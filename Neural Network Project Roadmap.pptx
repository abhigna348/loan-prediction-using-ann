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DM Sans" pitchFamily="2" charset="0"/>
      <p:regular r:id="rId14"/>
    </p:embeddedFont>
    <p:embeddedFont>
      <p:font typeface="DM Sans Bold" charset="0"/>
      <p:regular r:id="rId15"/>
    </p:embeddedFont>
    <p:embeddedFont>
      <p:font typeface="Inter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20DCA7-C94E-4125-A979-7F13A634AA0D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92366D-441C-45B2-9045-91CC965EB0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312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92366D-441C-45B2-9045-91CC965EB07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836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8.png"/><Relationship Id="rId5" Type="http://schemas.openxmlformats.org/officeDocument/2006/relationships/image" Target="../media/image14.png"/><Relationship Id="rId10" Type="http://schemas.openxmlformats.org/officeDocument/2006/relationships/image" Target="../media/image4.svg"/><Relationship Id="rId4" Type="http://schemas.openxmlformats.org/officeDocument/2006/relationships/image" Target="../media/image13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2D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8F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992238" y="2693512"/>
            <a:ext cx="9445526" cy="1932570"/>
            <a:chOff x="0" y="0"/>
            <a:chExt cx="12594035" cy="25767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594035" cy="2576761"/>
            </a:xfrm>
            <a:custGeom>
              <a:avLst/>
              <a:gdLst/>
              <a:ahLst/>
              <a:cxnLst/>
              <a:rect l="l" t="t" r="r" b="b"/>
              <a:pathLst>
                <a:path w="12594035" h="2576761">
                  <a:moveTo>
                    <a:pt x="0" y="0"/>
                  </a:moveTo>
                  <a:lnTo>
                    <a:pt x="12594035" y="0"/>
                  </a:lnTo>
                  <a:lnTo>
                    <a:pt x="12594035" y="2576761"/>
                  </a:lnTo>
                  <a:lnTo>
                    <a:pt x="0" y="25767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2594035" cy="25958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Loan Approval classification using ANNs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5143500"/>
            <a:ext cx="9445526" cy="4100341"/>
            <a:chOff x="0" y="0"/>
            <a:chExt cx="12594035" cy="546712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594035" cy="5467121"/>
            </a:xfrm>
            <a:custGeom>
              <a:avLst/>
              <a:gdLst/>
              <a:ahLst/>
              <a:cxnLst/>
              <a:rect l="l" t="t" r="r" b="b"/>
              <a:pathLst>
                <a:path w="12594035" h="5467121">
                  <a:moveTo>
                    <a:pt x="0" y="0"/>
                  </a:moveTo>
                  <a:lnTo>
                    <a:pt x="12594035" y="0"/>
                  </a:lnTo>
                  <a:lnTo>
                    <a:pt x="12594035" y="5467121"/>
                  </a:lnTo>
                  <a:lnTo>
                    <a:pt x="0" y="54671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33350"/>
              <a:ext cx="12594035" cy="56004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700"/>
                </a:lnSpc>
              </a:pPr>
              <a:r>
                <a:rPr lang="en-US" sz="2887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                            BUAN 6382</a:t>
              </a:r>
            </a:p>
            <a:p>
              <a:pPr algn="l">
                <a:lnSpc>
                  <a:spcPts val="5514"/>
                </a:lnSpc>
              </a:pPr>
              <a:endParaRPr lang="en-US" sz="28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l">
                <a:lnSpc>
                  <a:spcPts val="5514"/>
                </a:lnSpc>
              </a:pPr>
              <a:endParaRPr lang="en-US" sz="2887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l">
                <a:lnSpc>
                  <a:spcPts val="5514"/>
                </a:lnSpc>
              </a:pPr>
              <a:r>
                <a:rPr lang="en-US" sz="3387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BY:</a:t>
              </a:r>
            </a:p>
            <a:p>
              <a:pPr algn="l">
                <a:lnSpc>
                  <a:spcPts val="5514"/>
                </a:lnSpc>
              </a:pPr>
              <a:r>
                <a:rPr lang="en-US" sz="3387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Abhigna Alagoni</a:t>
              </a:r>
            </a:p>
            <a:p>
              <a:pPr algn="l">
                <a:lnSpc>
                  <a:spcPts val="5516"/>
                </a:lnSpc>
              </a:pPr>
              <a:r>
                <a:rPr lang="en-US" sz="3387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Net-ID: AXA230129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617767" y="-1427744"/>
            <a:ext cx="15573143" cy="14521956"/>
          </a:xfrm>
          <a:custGeom>
            <a:avLst/>
            <a:gdLst/>
            <a:ahLst/>
            <a:cxnLst/>
            <a:rect l="l" t="t" r="r" b="b"/>
            <a:pathLst>
              <a:path w="15573143" h="14521956">
                <a:moveTo>
                  <a:pt x="0" y="0"/>
                </a:moveTo>
                <a:lnTo>
                  <a:pt x="15573143" y="0"/>
                </a:lnTo>
                <a:lnTo>
                  <a:pt x="15573143" y="14521956"/>
                </a:lnTo>
                <a:lnTo>
                  <a:pt x="0" y="145219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2D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8F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Freeform 6" descr="preencoded.png">
            <a:hlinkClick r:id="rId2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992238" y="1351509"/>
            <a:ext cx="9204126" cy="1056289"/>
            <a:chOff x="0" y="0"/>
            <a:chExt cx="12272168" cy="14083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272168" cy="1408385"/>
            </a:xfrm>
            <a:custGeom>
              <a:avLst/>
              <a:gdLst/>
              <a:ahLst/>
              <a:cxnLst/>
              <a:rect l="l" t="t" r="r" b="b"/>
              <a:pathLst>
                <a:path w="12272168" h="1408385">
                  <a:moveTo>
                    <a:pt x="0" y="0"/>
                  </a:moveTo>
                  <a:lnTo>
                    <a:pt x="12272168" y="0"/>
                  </a:lnTo>
                  <a:lnTo>
                    <a:pt x="12272168" y="1408385"/>
                  </a:lnTo>
                  <a:lnTo>
                    <a:pt x="0" y="1408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2272168" cy="142743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Data Pre-processing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92238" y="2662684"/>
            <a:ext cx="4581079" cy="3448199"/>
            <a:chOff x="0" y="0"/>
            <a:chExt cx="6108105" cy="459759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108065" cy="4597527"/>
            </a:xfrm>
            <a:custGeom>
              <a:avLst/>
              <a:gdLst/>
              <a:ahLst/>
              <a:cxnLst/>
              <a:rect l="l" t="t" r="r" b="b"/>
              <a:pathLst>
                <a:path w="6108065" h="4597527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051423" y="0"/>
                  </a:lnTo>
                  <a:cubicBezTo>
                    <a:pt x="6082792" y="0"/>
                    <a:pt x="6108065" y="25400"/>
                    <a:pt x="6108065" y="56642"/>
                  </a:cubicBezTo>
                  <a:lnTo>
                    <a:pt x="6108065" y="4540885"/>
                  </a:lnTo>
                  <a:cubicBezTo>
                    <a:pt x="6108065" y="4572254"/>
                    <a:pt x="6082665" y="4597527"/>
                    <a:pt x="6051423" y="4597527"/>
                  </a:cubicBezTo>
                  <a:lnTo>
                    <a:pt x="56642" y="4597527"/>
                  </a:lnTo>
                  <a:cubicBezTo>
                    <a:pt x="25273" y="4597527"/>
                    <a:pt x="0" y="4572127"/>
                    <a:pt x="0" y="4540885"/>
                  </a:cubicBezTo>
                  <a:close/>
                </a:path>
              </a:pathLst>
            </a:custGeom>
            <a:solidFill>
              <a:srgbClr val="EDEBE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75755" y="2946201"/>
            <a:ext cx="3544044" cy="442912"/>
            <a:chOff x="0" y="0"/>
            <a:chExt cx="4725392" cy="5905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Missing Values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75755" y="3559225"/>
            <a:ext cx="4014044" cy="2268141"/>
            <a:chOff x="0" y="0"/>
            <a:chExt cx="5352058" cy="302418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352058" cy="3024188"/>
            </a:xfrm>
            <a:custGeom>
              <a:avLst/>
              <a:gdLst/>
              <a:ahLst/>
              <a:cxnLst/>
              <a:rect l="l" t="t" r="r" b="b"/>
              <a:pathLst>
                <a:path w="5352058" h="3024188">
                  <a:moveTo>
                    <a:pt x="0" y="0"/>
                  </a:moveTo>
                  <a:lnTo>
                    <a:pt x="5352058" y="0"/>
                  </a:lnTo>
                  <a:lnTo>
                    <a:pt x="5352058" y="3024188"/>
                  </a:lnTo>
                  <a:lnTo>
                    <a:pt x="0" y="30241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85725"/>
              <a:ext cx="5352058" cy="31099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Handle gaps with mean, median imputation or strategic removal. This creates a complete dataset for analysis.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856834" y="2662684"/>
            <a:ext cx="4581079" cy="3448199"/>
            <a:chOff x="0" y="0"/>
            <a:chExt cx="6108105" cy="459759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108065" cy="4597527"/>
            </a:xfrm>
            <a:custGeom>
              <a:avLst/>
              <a:gdLst/>
              <a:ahLst/>
              <a:cxnLst/>
              <a:rect l="l" t="t" r="r" b="b"/>
              <a:pathLst>
                <a:path w="6108065" h="4597527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051423" y="0"/>
                  </a:lnTo>
                  <a:cubicBezTo>
                    <a:pt x="6082792" y="0"/>
                    <a:pt x="6108065" y="25400"/>
                    <a:pt x="6108065" y="56642"/>
                  </a:cubicBezTo>
                  <a:lnTo>
                    <a:pt x="6108065" y="4540885"/>
                  </a:lnTo>
                  <a:cubicBezTo>
                    <a:pt x="6108065" y="4572254"/>
                    <a:pt x="6082665" y="4597527"/>
                    <a:pt x="6051423" y="4597527"/>
                  </a:cubicBezTo>
                  <a:lnTo>
                    <a:pt x="56642" y="4597527"/>
                  </a:lnTo>
                  <a:cubicBezTo>
                    <a:pt x="25273" y="4597527"/>
                    <a:pt x="0" y="4572127"/>
                    <a:pt x="0" y="4540885"/>
                  </a:cubicBezTo>
                  <a:close/>
                </a:path>
              </a:pathLst>
            </a:custGeom>
            <a:solidFill>
              <a:srgbClr val="EDEBE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140351" y="2946201"/>
            <a:ext cx="3553122" cy="442912"/>
            <a:chOff x="0" y="0"/>
            <a:chExt cx="4737497" cy="5905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737497" cy="590550"/>
            </a:xfrm>
            <a:custGeom>
              <a:avLst/>
              <a:gdLst/>
              <a:ahLst/>
              <a:cxnLst/>
              <a:rect l="l" t="t" r="r" b="b"/>
              <a:pathLst>
                <a:path w="4737497" h="590550">
                  <a:moveTo>
                    <a:pt x="0" y="0"/>
                  </a:moveTo>
                  <a:lnTo>
                    <a:pt x="4737497" y="0"/>
                  </a:lnTo>
                  <a:lnTo>
                    <a:pt x="4737497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4737497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Categorical Encoding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140351" y="3559225"/>
            <a:ext cx="4014044" cy="2268141"/>
            <a:chOff x="0" y="0"/>
            <a:chExt cx="5352058" cy="30241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352058" cy="3024188"/>
            </a:xfrm>
            <a:custGeom>
              <a:avLst/>
              <a:gdLst/>
              <a:ahLst/>
              <a:cxnLst/>
              <a:rect l="l" t="t" r="r" b="b"/>
              <a:pathLst>
                <a:path w="5352058" h="3024188">
                  <a:moveTo>
                    <a:pt x="0" y="0"/>
                  </a:moveTo>
                  <a:lnTo>
                    <a:pt x="5352058" y="0"/>
                  </a:lnTo>
                  <a:lnTo>
                    <a:pt x="5352058" y="3024188"/>
                  </a:lnTo>
                  <a:lnTo>
                    <a:pt x="0" y="30241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5352058" cy="31099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Transform text variables into numbers using One-Hot or Label Encoding. This makes categories machine-readable.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92238" y="6394400"/>
            <a:ext cx="9445526" cy="2540943"/>
            <a:chOff x="0" y="0"/>
            <a:chExt cx="12594035" cy="338792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594082" cy="3387979"/>
            </a:xfrm>
            <a:custGeom>
              <a:avLst/>
              <a:gdLst/>
              <a:ahLst/>
              <a:cxnLst/>
              <a:rect l="l" t="t" r="r" b="b"/>
              <a:pathLst>
                <a:path w="12594082" h="3387979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2537313" y="0"/>
                  </a:lnTo>
                  <a:cubicBezTo>
                    <a:pt x="12568682" y="0"/>
                    <a:pt x="12594082" y="25400"/>
                    <a:pt x="12594082" y="56769"/>
                  </a:cubicBezTo>
                  <a:lnTo>
                    <a:pt x="12594082" y="3331210"/>
                  </a:lnTo>
                  <a:cubicBezTo>
                    <a:pt x="12594082" y="3362579"/>
                    <a:pt x="12568682" y="3387979"/>
                    <a:pt x="12537313" y="3387979"/>
                  </a:cubicBezTo>
                  <a:lnTo>
                    <a:pt x="56769" y="3387979"/>
                  </a:lnTo>
                  <a:cubicBezTo>
                    <a:pt x="25400" y="3387979"/>
                    <a:pt x="0" y="3362579"/>
                    <a:pt x="0" y="3331210"/>
                  </a:cubicBezTo>
                  <a:close/>
                </a:path>
              </a:pathLst>
            </a:custGeom>
            <a:solidFill>
              <a:srgbClr val="EDEBE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75755" y="6677917"/>
            <a:ext cx="3544044" cy="442912"/>
            <a:chOff x="0" y="0"/>
            <a:chExt cx="4725392" cy="5905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Normalization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75755" y="7290941"/>
            <a:ext cx="8878491" cy="1360885"/>
            <a:chOff x="0" y="0"/>
            <a:chExt cx="11837988" cy="181451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837988" cy="1814513"/>
            </a:xfrm>
            <a:custGeom>
              <a:avLst/>
              <a:gdLst/>
              <a:ahLst/>
              <a:cxnLst/>
              <a:rect l="l" t="t" r="r" b="b"/>
              <a:pathLst>
                <a:path w="11837988" h="1814513">
                  <a:moveTo>
                    <a:pt x="0" y="0"/>
                  </a:moveTo>
                  <a:lnTo>
                    <a:pt x="11837988" y="0"/>
                  </a:lnTo>
                  <a:lnTo>
                    <a:pt x="11837988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85725"/>
              <a:ext cx="11837988" cy="19002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Scale numerical features to similar ranges using Min-Max or Standard Scaling. This prevents dominance by large-value variables and stable ANN training.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2D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8F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Freeform 6" descr="preencoded.png">
            <a:hlinkClick r:id="rId2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966341" y="760511"/>
            <a:ext cx="9497317" cy="1725514"/>
            <a:chOff x="0" y="0"/>
            <a:chExt cx="12663090" cy="23006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663090" cy="2300685"/>
            </a:xfrm>
            <a:custGeom>
              <a:avLst/>
              <a:gdLst/>
              <a:ahLst/>
              <a:cxnLst/>
              <a:rect l="l" t="t" r="r" b="b"/>
              <a:pathLst>
                <a:path w="12663090" h="2300685">
                  <a:moveTo>
                    <a:pt x="0" y="0"/>
                  </a:moveTo>
                  <a:lnTo>
                    <a:pt x="12663090" y="0"/>
                  </a:lnTo>
                  <a:lnTo>
                    <a:pt x="12663090" y="2300685"/>
                  </a:lnTo>
                  <a:lnTo>
                    <a:pt x="0" y="23006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2663090" cy="232926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749"/>
                </a:lnSpc>
              </a:pPr>
              <a:r>
                <a:rPr lang="en-US" sz="5374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Building the Neural Network</a:t>
              </a:r>
            </a:p>
          </p:txBody>
        </p:sp>
      </p:grpSp>
      <p:sp>
        <p:nvSpPr>
          <p:cNvPr id="11" name="Freeform 11" descr="preencoded.png"/>
          <p:cNvSpPr/>
          <p:nvPr/>
        </p:nvSpPr>
        <p:spPr>
          <a:xfrm>
            <a:off x="966341" y="2900065"/>
            <a:ext cx="1380530" cy="1656606"/>
          </a:xfrm>
          <a:custGeom>
            <a:avLst/>
            <a:gdLst/>
            <a:ahLst/>
            <a:cxnLst/>
            <a:rect l="l" t="t" r="r" b="b"/>
            <a:pathLst>
              <a:path w="1380530" h="1656606">
                <a:moveTo>
                  <a:pt x="0" y="0"/>
                </a:moveTo>
                <a:lnTo>
                  <a:pt x="1380530" y="0"/>
                </a:lnTo>
                <a:lnTo>
                  <a:pt x="1380530" y="1656606"/>
                </a:lnTo>
                <a:lnTo>
                  <a:pt x="0" y="16566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/>
          <p:cNvGrpSpPr/>
          <p:nvPr/>
        </p:nvGrpSpPr>
        <p:grpSpPr>
          <a:xfrm>
            <a:off x="2760910" y="3176141"/>
            <a:ext cx="3451472" cy="431304"/>
            <a:chOff x="0" y="0"/>
            <a:chExt cx="4601963" cy="5750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601963" cy="575072"/>
            </a:xfrm>
            <a:custGeom>
              <a:avLst/>
              <a:gdLst/>
              <a:ahLst/>
              <a:cxnLst/>
              <a:rect l="l" t="t" r="r" b="b"/>
              <a:pathLst>
                <a:path w="4601963" h="575072">
                  <a:moveTo>
                    <a:pt x="0" y="0"/>
                  </a:moveTo>
                  <a:lnTo>
                    <a:pt x="4601963" y="0"/>
                  </a:lnTo>
                  <a:lnTo>
                    <a:pt x="4601963" y="575072"/>
                  </a:lnTo>
                  <a:lnTo>
                    <a:pt x="0" y="575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4601963" cy="5845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687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Define Architecture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760910" y="3773091"/>
            <a:ext cx="7702749" cy="441722"/>
            <a:chOff x="0" y="0"/>
            <a:chExt cx="10270332" cy="5889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270332" cy="588963"/>
            </a:xfrm>
            <a:custGeom>
              <a:avLst/>
              <a:gdLst/>
              <a:ahLst/>
              <a:cxnLst/>
              <a:rect l="l" t="t" r="r" b="b"/>
              <a:pathLst>
                <a:path w="10270332" h="588963">
                  <a:moveTo>
                    <a:pt x="0" y="0"/>
                  </a:moveTo>
                  <a:lnTo>
                    <a:pt x="10270332" y="0"/>
                  </a:lnTo>
                  <a:lnTo>
                    <a:pt x="10270332" y="588963"/>
                  </a:lnTo>
                  <a:lnTo>
                    <a:pt x="0" y="588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10270332" cy="6842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125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Constructed an Artificial Neural Network using Keras sequential API</a:t>
              </a:r>
            </a:p>
          </p:txBody>
        </p:sp>
      </p:grpSp>
      <p:sp>
        <p:nvSpPr>
          <p:cNvPr id="18" name="Freeform 18" descr="preencoded.png"/>
          <p:cNvSpPr/>
          <p:nvPr/>
        </p:nvSpPr>
        <p:spPr>
          <a:xfrm>
            <a:off x="966341" y="4556671"/>
            <a:ext cx="1380530" cy="1656606"/>
          </a:xfrm>
          <a:custGeom>
            <a:avLst/>
            <a:gdLst/>
            <a:ahLst/>
            <a:cxnLst/>
            <a:rect l="l" t="t" r="r" b="b"/>
            <a:pathLst>
              <a:path w="1380530" h="1656606">
                <a:moveTo>
                  <a:pt x="0" y="0"/>
                </a:moveTo>
                <a:lnTo>
                  <a:pt x="1380530" y="0"/>
                </a:lnTo>
                <a:lnTo>
                  <a:pt x="1380530" y="1656606"/>
                </a:lnTo>
                <a:lnTo>
                  <a:pt x="0" y="16566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9" name="Group 19"/>
          <p:cNvGrpSpPr/>
          <p:nvPr/>
        </p:nvGrpSpPr>
        <p:grpSpPr>
          <a:xfrm>
            <a:off x="2760910" y="4832748"/>
            <a:ext cx="3451472" cy="431304"/>
            <a:chOff x="0" y="0"/>
            <a:chExt cx="4601963" cy="5750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601963" cy="575072"/>
            </a:xfrm>
            <a:custGeom>
              <a:avLst/>
              <a:gdLst/>
              <a:ahLst/>
              <a:cxnLst/>
              <a:rect l="l" t="t" r="r" b="b"/>
              <a:pathLst>
                <a:path w="4601963" h="575072">
                  <a:moveTo>
                    <a:pt x="0" y="0"/>
                  </a:moveTo>
                  <a:lnTo>
                    <a:pt x="4601963" y="0"/>
                  </a:lnTo>
                  <a:lnTo>
                    <a:pt x="4601963" y="575072"/>
                  </a:lnTo>
                  <a:lnTo>
                    <a:pt x="0" y="575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4601963" cy="5845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687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Input/Output Shape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760910" y="5429696"/>
            <a:ext cx="7702749" cy="441722"/>
            <a:chOff x="0" y="0"/>
            <a:chExt cx="10270332" cy="58896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270332" cy="588963"/>
            </a:xfrm>
            <a:custGeom>
              <a:avLst/>
              <a:gdLst/>
              <a:ahLst/>
              <a:cxnLst/>
              <a:rect l="l" t="t" r="r" b="b"/>
              <a:pathLst>
                <a:path w="10270332" h="588963">
                  <a:moveTo>
                    <a:pt x="0" y="0"/>
                  </a:moveTo>
                  <a:lnTo>
                    <a:pt x="10270332" y="0"/>
                  </a:lnTo>
                  <a:lnTo>
                    <a:pt x="10270332" y="588963"/>
                  </a:lnTo>
                  <a:lnTo>
                    <a:pt x="0" y="588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0"/>
              <a:ext cx="10270332" cy="6842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125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Match dimensions to your dataset requirements.</a:t>
              </a:r>
            </a:p>
          </p:txBody>
        </p:sp>
      </p:grpSp>
      <p:sp>
        <p:nvSpPr>
          <p:cNvPr id="25" name="Freeform 25" descr="preencoded.png"/>
          <p:cNvSpPr/>
          <p:nvPr/>
        </p:nvSpPr>
        <p:spPr>
          <a:xfrm>
            <a:off x="966341" y="6213276"/>
            <a:ext cx="1380530" cy="1656606"/>
          </a:xfrm>
          <a:custGeom>
            <a:avLst/>
            <a:gdLst/>
            <a:ahLst/>
            <a:cxnLst/>
            <a:rect l="l" t="t" r="r" b="b"/>
            <a:pathLst>
              <a:path w="1380530" h="1656606">
                <a:moveTo>
                  <a:pt x="0" y="0"/>
                </a:moveTo>
                <a:lnTo>
                  <a:pt x="1380530" y="0"/>
                </a:lnTo>
                <a:lnTo>
                  <a:pt x="1380530" y="1656606"/>
                </a:lnTo>
                <a:lnTo>
                  <a:pt x="0" y="16566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6" name="Group 26"/>
          <p:cNvGrpSpPr/>
          <p:nvPr/>
        </p:nvGrpSpPr>
        <p:grpSpPr>
          <a:xfrm>
            <a:off x="2760910" y="6489352"/>
            <a:ext cx="3497164" cy="431304"/>
            <a:chOff x="0" y="0"/>
            <a:chExt cx="4662885" cy="5750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662885" cy="575072"/>
            </a:xfrm>
            <a:custGeom>
              <a:avLst/>
              <a:gdLst/>
              <a:ahLst/>
              <a:cxnLst/>
              <a:rect l="l" t="t" r="r" b="b"/>
              <a:pathLst>
                <a:path w="4662885" h="575072">
                  <a:moveTo>
                    <a:pt x="0" y="0"/>
                  </a:moveTo>
                  <a:lnTo>
                    <a:pt x="4662885" y="0"/>
                  </a:lnTo>
                  <a:lnTo>
                    <a:pt x="4662885" y="575072"/>
                  </a:lnTo>
                  <a:lnTo>
                    <a:pt x="0" y="575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4662885" cy="5845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687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Set Hyperparameters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760910" y="7086302"/>
            <a:ext cx="7702749" cy="441722"/>
            <a:chOff x="0" y="0"/>
            <a:chExt cx="10270332" cy="58896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270332" cy="588963"/>
            </a:xfrm>
            <a:custGeom>
              <a:avLst/>
              <a:gdLst/>
              <a:ahLst/>
              <a:cxnLst/>
              <a:rect l="l" t="t" r="r" b="b"/>
              <a:pathLst>
                <a:path w="10270332" h="588963">
                  <a:moveTo>
                    <a:pt x="0" y="0"/>
                  </a:moveTo>
                  <a:lnTo>
                    <a:pt x="10270332" y="0"/>
                  </a:lnTo>
                  <a:lnTo>
                    <a:pt x="10270332" y="588963"/>
                  </a:lnTo>
                  <a:lnTo>
                    <a:pt x="0" y="588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95250"/>
              <a:ext cx="10270332" cy="6842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125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Configure learning rate, batch size=64, and training epochs=50.</a:t>
              </a:r>
            </a:p>
          </p:txBody>
        </p:sp>
      </p:grpSp>
      <p:sp>
        <p:nvSpPr>
          <p:cNvPr id="32" name="Freeform 32" descr="preencoded.png"/>
          <p:cNvSpPr/>
          <p:nvPr/>
        </p:nvSpPr>
        <p:spPr>
          <a:xfrm>
            <a:off x="966341" y="7869882"/>
            <a:ext cx="1380530" cy="1656606"/>
          </a:xfrm>
          <a:custGeom>
            <a:avLst/>
            <a:gdLst/>
            <a:ahLst/>
            <a:cxnLst/>
            <a:rect l="l" t="t" r="r" b="b"/>
            <a:pathLst>
              <a:path w="1380530" h="1656606">
                <a:moveTo>
                  <a:pt x="0" y="0"/>
                </a:moveTo>
                <a:lnTo>
                  <a:pt x="1380530" y="0"/>
                </a:lnTo>
                <a:lnTo>
                  <a:pt x="1380530" y="1656607"/>
                </a:lnTo>
                <a:lnTo>
                  <a:pt x="0" y="16566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3" name="Group 33"/>
          <p:cNvGrpSpPr/>
          <p:nvPr/>
        </p:nvGrpSpPr>
        <p:grpSpPr>
          <a:xfrm>
            <a:off x="2760910" y="8145959"/>
            <a:ext cx="3451472" cy="431304"/>
            <a:chOff x="0" y="0"/>
            <a:chExt cx="4601963" cy="57507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601963" cy="575072"/>
            </a:xfrm>
            <a:custGeom>
              <a:avLst/>
              <a:gdLst/>
              <a:ahLst/>
              <a:cxnLst/>
              <a:rect l="l" t="t" r="r" b="b"/>
              <a:pathLst>
                <a:path w="4601963" h="575072">
                  <a:moveTo>
                    <a:pt x="0" y="0"/>
                  </a:moveTo>
                  <a:lnTo>
                    <a:pt x="4601963" y="0"/>
                  </a:lnTo>
                  <a:lnTo>
                    <a:pt x="4601963" y="575072"/>
                  </a:lnTo>
                  <a:lnTo>
                    <a:pt x="0" y="575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4601963" cy="5845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687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Add Hidden Layers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760910" y="8742909"/>
            <a:ext cx="7702749" cy="441722"/>
            <a:chOff x="0" y="0"/>
            <a:chExt cx="10270332" cy="58896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270332" cy="588963"/>
            </a:xfrm>
            <a:custGeom>
              <a:avLst/>
              <a:gdLst/>
              <a:ahLst/>
              <a:cxnLst/>
              <a:rect l="l" t="t" r="r" b="b"/>
              <a:pathLst>
                <a:path w="10270332" h="588963">
                  <a:moveTo>
                    <a:pt x="0" y="0"/>
                  </a:moveTo>
                  <a:lnTo>
                    <a:pt x="10270332" y="0"/>
                  </a:lnTo>
                  <a:lnTo>
                    <a:pt x="10270332" y="588963"/>
                  </a:lnTo>
                  <a:lnTo>
                    <a:pt x="0" y="588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0"/>
              <a:ext cx="10270332" cy="6842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125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Implement 3 hidden layers with ReLU activation.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2D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8F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7" y="1563886"/>
            <a:ext cx="8651379" cy="1056289"/>
            <a:chOff x="0" y="0"/>
            <a:chExt cx="11535172" cy="140838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535172" cy="1408385"/>
            </a:xfrm>
            <a:custGeom>
              <a:avLst/>
              <a:gdLst/>
              <a:ahLst/>
              <a:cxnLst/>
              <a:rect l="l" t="t" r="r" b="b"/>
              <a:pathLst>
                <a:path w="11535172" h="1408385">
                  <a:moveTo>
                    <a:pt x="0" y="0"/>
                  </a:moveTo>
                  <a:lnTo>
                    <a:pt x="11535172" y="0"/>
                  </a:lnTo>
                  <a:lnTo>
                    <a:pt x="11535172" y="1408385"/>
                  </a:lnTo>
                  <a:lnTo>
                    <a:pt x="0" y="1408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1535172" cy="142743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Training the Model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321570" y="3576935"/>
            <a:ext cx="3544044" cy="442912"/>
            <a:chOff x="0" y="0"/>
            <a:chExt cx="4725392" cy="5905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437"/>
                </a:lnSpc>
              </a:pPr>
              <a:r>
                <a:rPr lang="en-US" sz="2750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Split Data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2238" y="4189959"/>
            <a:ext cx="4873378" cy="907256"/>
            <a:chOff x="0" y="0"/>
            <a:chExt cx="6497837" cy="12096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97837" cy="1209675"/>
            </a:xfrm>
            <a:custGeom>
              <a:avLst/>
              <a:gdLst/>
              <a:ahLst/>
              <a:cxnLst/>
              <a:rect l="l" t="t" r="r" b="b"/>
              <a:pathLst>
                <a:path w="6497837" h="1209675">
                  <a:moveTo>
                    <a:pt x="0" y="0"/>
                  </a:moveTo>
                  <a:lnTo>
                    <a:pt x="6497837" y="0"/>
                  </a:lnTo>
                  <a:lnTo>
                    <a:pt x="6497837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6497837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562"/>
                </a:lnSpc>
              </a:pPr>
              <a:r>
                <a:rPr lang="en-US" sz="2187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Split Dataset into 60% training, 20% validation and 20% test.</a:t>
              </a:r>
            </a:p>
          </p:txBody>
        </p:sp>
      </p:grpSp>
      <p:sp>
        <p:nvSpPr>
          <p:cNvPr id="15" name="Freeform 15" descr="preencoded.png"/>
          <p:cNvSpPr/>
          <p:nvPr/>
        </p:nvSpPr>
        <p:spPr>
          <a:xfrm>
            <a:off x="6290816" y="3016895"/>
            <a:ext cx="5706219" cy="5706219"/>
          </a:xfrm>
          <a:custGeom>
            <a:avLst/>
            <a:gdLst/>
            <a:ahLst/>
            <a:cxnLst/>
            <a:rect l="l" t="t" r="r" b="b"/>
            <a:pathLst>
              <a:path w="5706219" h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 descr="preencoded.png"/>
          <p:cNvSpPr/>
          <p:nvPr/>
        </p:nvSpPr>
        <p:spPr>
          <a:xfrm>
            <a:off x="7783414" y="3970735"/>
            <a:ext cx="424160" cy="530275"/>
          </a:xfrm>
          <a:custGeom>
            <a:avLst/>
            <a:gdLst/>
            <a:ahLst/>
            <a:cxnLst/>
            <a:rect l="l" t="t" r="r" b="b"/>
            <a:pathLst>
              <a:path w="424160" h="530275">
                <a:moveTo>
                  <a:pt x="0" y="0"/>
                </a:moveTo>
                <a:lnTo>
                  <a:pt x="424160" y="0"/>
                </a:lnTo>
                <a:lnTo>
                  <a:pt x="424160" y="530275"/>
                </a:lnTo>
                <a:lnTo>
                  <a:pt x="0" y="53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0" r="-230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7" name="Group 17"/>
          <p:cNvGrpSpPr/>
          <p:nvPr/>
        </p:nvGrpSpPr>
        <p:grpSpPr>
          <a:xfrm>
            <a:off x="12422237" y="3576935"/>
            <a:ext cx="3544044" cy="442912"/>
            <a:chOff x="0" y="0"/>
            <a:chExt cx="4725392" cy="5905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Select Optimizer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422237" y="4189959"/>
            <a:ext cx="4873526" cy="907256"/>
            <a:chOff x="0" y="0"/>
            <a:chExt cx="6498035" cy="120967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498035" cy="1209675"/>
            </a:xfrm>
            <a:custGeom>
              <a:avLst/>
              <a:gdLst/>
              <a:ahLst/>
              <a:cxnLst/>
              <a:rect l="l" t="t" r="r" b="b"/>
              <a:pathLst>
                <a:path w="6498035" h="1209675">
                  <a:moveTo>
                    <a:pt x="0" y="0"/>
                  </a:moveTo>
                  <a:lnTo>
                    <a:pt x="6498035" y="0"/>
                  </a:lnTo>
                  <a:lnTo>
                    <a:pt x="649803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6498035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Used Adam optimizer due it’s adaptive learning benefits</a:t>
              </a:r>
            </a:p>
          </p:txBody>
        </p:sp>
      </p:grpSp>
      <p:sp>
        <p:nvSpPr>
          <p:cNvPr id="23" name="Freeform 23" descr="preencoded.png"/>
          <p:cNvSpPr/>
          <p:nvPr/>
        </p:nvSpPr>
        <p:spPr>
          <a:xfrm>
            <a:off x="6290816" y="3016895"/>
            <a:ext cx="5706219" cy="5706219"/>
          </a:xfrm>
          <a:custGeom>
            <a:avLst/>
            <a:gdLst/>
            <a:ahLst/>
            <a:cxnLst/>
            <a:rect l="l" t="t" r="r" b="b"/>
            <a:pathLst>
              <a:path w="5706219" h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Freeform 24" descr="preencoded.png"/>
          <p:cNvSpPr/>
          <p:nvPr/>
        </p:nvSpPr>
        <p:spPr>
          <a:xfrm>
            <a:off x="10565755" y="4456360"/>
            <a:ext cx="424160" cy="530275"/>
          </a:xfrm>
          <a:custGeom>
            <a:avLst/>
            <a:gdLst/>
            <a:ahLst/>
            <a:cxnLst/>
            <a:rect l="l" t="t" r="r" b="b"/>
            <a:pathLst>
              <a:path w="424160" h="530275">
                <a:moveTo>
                  <a:pt x="0" y="0"/>
                </a:moveTo>
                <a:lnTo>
                  <a:pt x="424160" y="0"/>
                </a:lnTo>
                <a:lnTo>
                  <a:pt x="424160" y="530275"/>
                </a:lnTo>
                <a:lnTo>
                  <a:pt x="0" y="5302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0" r="-230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5" name="Group 25"/>
          <p:cNvGrpSpPr/>
          <p:nvPr/>
        </p:nvGrpSpPr>
        <p:grpSpPr>
          <a:xfrm>
            <a:off x="12422237" y="6642646"/>
            <a:ext cx="3758952" cy="442912"/>
            <a:chOff x="0" y="0"/>
            <a:chExt cx="5011937" cy="5905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011937" cy="590550"/>
            </a:xfrm>
            <a:custGeom>
              <a:avLst/>
              <a:gdLst/>
              <a:ahLst/>
              <a:cxnLst/>
              <a:rect l="l" t="t" r="r" b="b"/>
              <a:pathLst>
                <a:path w="5011937" h="590550">
                  <a:moveTo>
                    <a:pt x="0" y="0"/>
                  </a:moveTo>
                  <a:lnTo>
                    <a:pt x="5011937" y="0"/>
                  </a:lnTo>
                  <a:lnTo>
                    <a:pt x="5011937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5011937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Implement Safeguards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422237" y="7255669"/>
            <a:ext cx="4873526" cy="907256"/>
            <a:chOff x="0" y="0"/>
            <a:chExt cx="6498035" cy="120967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498035" cy="1209675"/>
            </a:xfrm>
            <a:custGeom>
              <a:avLst/>
              <a:gdLst/>
              <a:ahLst/>
              <a:cxnLst/>
              <a:rect l="l" t="t" r="r" b="b"/>
              <a:pathLst>
                <a:path w="6498035" h="1209675">
                  <a:moveTo>
                    <a:pt x="0" y="0"/>
                  </a:moveTo>
                  <a:lnTo>
                    <a:pt x="6498035" y="0"/>
                  </a:lnTo>
                  <a:lnTo>
                    <a:pt x="649803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85725"/>
              <a:ext cx="6498035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dirty="0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Add early stopping with patience = 5 and </a:t>
              </a:r>
              <a:r>
                <a:rPr lang="en-US" sz="2187" dirty="0" err="1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min_delta</a:t>
              </a:r>
              <a:r>
                <a:rPr lang="en-US" sz="2187" dirty="0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 =0.001and regularization techniques.</a:t>
              </a:r>
            </a:p>
          </p:txBody>
        </p:sp>
      </p:grpSp>
      <p:sp>
        <p:nvSpPr>
          <p:cNvPr id="31" name="Freeform 31" descr="preencoded.png"/>
          <p:cNvSpPr/>
          <p:nvPr/>
        </p:nvSpPr>
        <p:spPr>
          <a:xfrm>
            <a:off x="6290816" y="3016895"/>
            <a:ext cx="5706219" cy="5706219"/>
          </a:xfrm>
          <a:custGeom>
            <a:avLst/>
            <a:gdLst/>
            <a:ahLst/>
            <a:cxnLst/>
            <a:rect l="l" t="t" r="r" b="b"/>
            <a:pathLst>
              <a:path w="5706219" h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Freeform 32" descr="preencoded.png"/>
          <p:cNvSpPr/>
          <p:nvPr/>
        </p:nvSpPr>
        <p:spPr>
          <a:xfrm>
            <a:off x="10080129" y="7238702"/>
            <a:ext cx="424160" cy="530275"/>
          </a:xfrm>
          <a:custGeom>
            <a:avLst/>
            <a:gdLst/>
            <a:ahLst/>
            <a:cxnLst/>
            <a:rect l="l" t="t" r="r" b="b"/>
            <a:pathLst>
              <a:path w="424160" h="530275">
                <a:moveTo>
                  <a:pt x="0" y="0"/>
                </a:moveTo>
                <a:lnTo>
                  <a:pt x="424160" y="0"/>
                </a:lnTo>
                <a:lnTo>
                  <a:pt x="424160" y="530275"/>
                </a:lnTo>
                <a:lnTo>
                  <a:pt x="0" y="5302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30" r="-230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3" name="Group 33"/>
          <p:cNvGrpSpPr/>
          <p:nvPr/>
        </p:nvGrpSpPr>
        <p:grpSpPr>
          <a:xfrm>
            <a:off x="2321570" y="6642646"/>
            <a:ext cx="3544044" cy="442912"/>
            <a:chOff x="0" y="0"/>
            <a:chExt cx="4725392" cy="5905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437"/>
                </a:lnSpc>
              </a:pPr>
              <a:r>
                <a:rPr lang="en-US" sz="2750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Monitor Progress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92238" y="7255669"/>
            <a:ext cx="4873378" cy="907256"/>
            <a:chOff x="0" y="0"/>
            <a:chExt cx="6497837" cy="120967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497837" cy="1209675"/>
            </a:xfrm>
            <a:custGeom>
              <a:avLst/>
              <a:gdLst/>
              <a:ahLst/>
              <a:cxnLst/>
              <a:rect l="l" t="t" r="r" b="b"/>
              <a:pathLst>
                <a:path w="6497837" h="1209675">
                  <a:moveTo>
                    <a:pt x="0" y="0"/>
                  </a:moveTo>
                  <a:lnTo>
                    <a:pt x="6497837" y="0"/>
                  </a:lnTo>
                  <a:lnTo>
                    <a:pt x="6497837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85725"/>
              <a:ext cx="6497837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562"/>
                </a:lnSpc>
              </a:pPr>
              <a:r>
                <a:rPr lang="en-US" sz="2187" dirty="0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Plotted training vs validation accuracy and loss over epochs.</a:t>
              </a:r>
            </a:p>
          </p:txBody>
        </p:sp>
      </p:grpSp>
      <p:sp>
        <p:nvSpPr>
          <p:cNvPr id="39" name="Freeform 39" descr="preencoded.png"/>
          <p:cNvSpPr/>
          <p:nvPr/>
        </p:nvSpPr>
        <p:spPr>
          <a:xfrm>
            <a:off x="6290816" y="3016895"/>
            <a:ext cx="5706219" cy="5706219"/>
          </a:xfrm>
          <a:custGeom>
            <a:avLst/>
            <a:gdLst/>
            <a:ahLst/>
            <a:cxnLst/>
            <a:rect l="l" t="t" r="r" b="b"/>
            <a:pathLst>
              <a:path w="5706219" h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0" name="Freeform 40"/>
          <p:cNvSpPr/>
          <p:nvPr/>
        </p:nvSpPr>
        <p:spPr>
          <a:xfrm>
            <a:off x="10080129" y="-8651952"/>
            <a:ext cx="15573143" cy="14521956"/>
          </a:xfrm>
          <a:custGeom>
            <a:avLst/>
            <a:gdLst/>
            <a:ahLst/>
            <a:cxnLst/>
            <a:rect l="l" t="t" r="r" b="b"/>
            <a:pathLst>
              <a:path w="15573143" h="14521956">
                <a:moveTo>
                  <a:pt x="0" y="0"/>
                </a:moveTo>
                <a:lnTo>
                  <a:pt x="15573143" y="0"/>
                </a:lnTo>
                <a:lnTo>
                  <a:pt x="15573143" y="14521956"/>
                </a:lnTo>
                <a:lnTo>
                  <a:pt x="0" y="145219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26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1" name="Freeform 41" descr="preencoded.png"/>
          <p:cNvSpPr/>
          <p:nvPr/>
        </p:nvSpPr>
        <p:spPr>
          <a:xfrm>
            <a:off x="7297788" y="6753076"/>
            <a:ext cx="424160" cy="530275"/>
          </a:xfrm>
          <a:custGeom>
            <a:avLst/>
            <a:gdLst/>
            <a:ahLst/>
            <a:cxnLst/>
            <a:rect l="l" t="t" r="r" b="b"/>
            <a:pathLst>
              <a:path w="424160" h="530275">
                <a:moveTo>
                  <a:pt x="0" y="0"/>
                </a:moveTo>
                <a:lnTo>
                  <a:pt x="424159" y="0"/>
                </a:lnTo>
                <a:lnTo>
                  <a:pt x="424159" y="530275"/>
                </a:lnTo>
                <a:lnTo>
                  <a:pt x="0" y="5302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30" r="-230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2D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8F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Freeform 6" descr="preencoded.png"/>
          <p:cNvSpPr/>
          <p:nvPr/>
        </p:nvSpPr>
        <p:spPr>
          <a:xfrm>
            <a:off x="0" y="0"/>
            <a:ext cx="18288000" cy="3544044"/>
          </a:xfrm>
          <a:custGeom>
            <a:avLst/>
            <a:gdLst/>
            <a:ahLst/>
            <a:cxnLst/>
            <a:rect l="l" t="t" r="r" b="b"/>
            <a:pathLst>
              <a:path w="18288000" h="3544044">
                <a:moveTo>
                  <a:pt x="0" y="0"/>
                </a:moveTo>
                <a:lnTo>
                  <a:pt x="18288000" y="0"/>
                </a:lnTo>
                <a:lnTo>
                  <a:pt x="18288000" y="3544044"/>
                </a:lnTo>
                <a:lnTo>
                  <a:pt x="0" y="3544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" r="-10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992237" y="4358729"/>
            <a:ext cx="8190011" cy="1056289"/>
            <a:chOff x="0" y="0"/>
            <a:chExt cx="10920015" cy="14083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20015" cy="1408385"/>
            </a:xfrm>
            <a:custGeom>
              <a:avLst/>
              <a:gdLst/>
              <a:ahLst/>
              <a:cxnLst/>
              <a:rect l="l" t="t" r="r" b="b"/>
              <a:pathLst>
                <a:path w="10920015" h="1408385">
                  <a:moveTo>
                    <a:pt x="0" y="0"/>
                  </a:moveTo>
                  <a:lnTo>
                    <a:pt x="10920015" y="0"/>
                  </a:lnTo>
                  <a:lnTo>
                    <a:pt x="10920015" y="1408385"/>
                  </a:lnTo>
                  <a:lnTo>
                    <a:pt x="0" y="1408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0920015" cy="142743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Model Evaluation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92238" y="5669905"/>
            <a:ext cx="637878" cy="637878"/>
            <a:chOff x="0" y="0"/>
            <a:chExt cx="850503" cy="8505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DEBE3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Freeform 12" descr="preencoded.png"/>
          <p:cNvSpPr/>
          <p:nvPr/>
        </p:nvSpPr>
        <p:spPr>
          <a:xfrm>
            <a:off x="1098575" y="5723036"/>
            <a:ext cx="425202" cy="531614"/>
          </a:xfrm>
          <a:custGeom>
            <a:avLst/>
            <a:gdLst/>
            <a:ahLst/>
            <a:cxnLst/>
            <a:rect l="l" t="t" r="r" b="b"/>
            <a:pathLst>
              <a:path w="425202" h="531614">
                <a:moveTo>
                  <a:pt x="0" y="0"/>
                </a:moveTo>
                <a:lnTo>
                  <a:pt x="425203" y="0"/>
                </a:lnTo>
                <a:lnTo>
                  <a:pt x="425203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3" r="-23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3" name="Group 13"/>
          <p:cNvGrpSpPr/>
          <p:nvPr/>
        </p:nvGrpSpPr>
        <p:grpSpPr>
          <a:xfrm>
            <a:off x="1913632" y="5767239"/>
            <a:ext cx="3544044" cy="442912"/>
            <a:chOff x="0" y="0"/>
            <a:chExt cx="4725392" cy="5905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Performance Metrics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913632" y="6380261"/>
            <a:ext cx="7053262" cy="907256"/>
            <a:chOff x="0" y="0"/>
            <a:chExt cx="9404350" cy="120967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404350" cy="1209675"/>
            </a:xfrm>
            <a:custGeom>
              <a:avLst/>
              <a:gdLst/>
              <a:ahLst/>
              <a:cxnLst/>
              <a:rect l="l" t="t" r="r" b="b"/>
              <a:pathLst>
                <a:path w="9404350" h="1209675">
                  <a:moveTo>
                    <a:pt x="0" y="0"/>
                  </a:moveTo>
                  <a:lnTo>
                    <a:pt x="9404350" y="0"/>
                  </a:lnTo>
                  <a:lnTo>
                    <a:pt x="940435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85725"/>
              <a:ext cx="9404350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Calculate accuracy, precision, recall, and F1-score to understand model strengths and weaknesses.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321254" y="5669905"/>
            <a:ext cx="637877" cy="637878"/>
            <a:chOff x="0" y="0"/>
            <a:chExt cx="850503" cy="85050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DEBE3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Freeform 21" descr="preencoded.png"/>
          <p:cNvSpPr/>
          <p:nvPr/>
        </p:nvSpPr>
        <p:spPr>
          <a:xfrm>
            <a:off x="9427592" y="5723036"/>
            <a:ext cx="425203" cy="531614"/>
          </a:xfrm>
          <a:custGeom>
            <a:avLst/>
            <a:gdLst/>
            <a:ahLst/>
            <a:cxnLst/>
            <a:rect l="l" t="t" r="r" b="b"/>
            <a:pathLst>
              <a:path w="425203" h="531614">
                <a:moveTo>
                  <a:pt x="0" y="0"/>
                </a:moveTo>
                <a:lnTo>
                  <a:pt x="425203" y="0"/>
                </a:lnTo>
                <a:lnTo>
                  <a:pt x="425203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3" r="-23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2" name="Group 22"/>
          <p:cNvGrpSpPr/>
          <p:nvPr/>
        </p:nvGrpSpPr>
        <p:grpSpPr>
          <a:xfrm>
            <a:off x="10242649" y="5767239"/>
            <a:ext cx="3544044" cy="442912"/>
            <a:chOff x="0" y="0"/>
            <a:chExt cx="4725392" cy="5905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Confusion Matrix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242649" y="6380261"/>
            <a:ext cx="7053262" cy="907256"/>
            <a:chOff x="0" y="0"/>
            <a:chExt cx="9404350" cy="120967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404350" cy="1209675"/>
            </a:xfrm>
            <a:custGeom>
              <a:avLst/>
              <a:gdLst/>
              <a:ahLst/>
              <a:cxnLst/>
              <a:rect l="l" t="t" r="r" b="b"/>
              <a:pathLst>
                <a:path w="9404350" h="1209675">
                  <a:moveTo>
                    <a:pt x="0" y="0"/>
                  </a:moveTo>
                  <a:lnTo>
                    <a:pt x="9404350" y="0"/>
                  </a:lnTo>
                  <a:lnTo>
                    <a:pt x="940435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85725"/>
              <a:ext cx="9404350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Analyze true/false positives and negatives to identify classification patterns and errors.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92238" y="7854554"/>
            <a:ext cx="637878" cy="637878"/>
            <a:chOff x="0" y="0"/>
            <a:chExt cx="850503" cy="85050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DEBE3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0" name="Freeform 30" descr="preencoded.png"/>
          <p:cNvSpPr/>
          <p:nvPr/>
        </p:nvSpPr>
        <p:spPr>
          <a:xfrm>
            <a:off x="1098575" y="7907685"/>
            <a:ext cx="425202" cy="531614"/>
          </a:xfrm>
          <a:custGeom>
            <a:avLst/>
            <a:gdLst/>
            <a:ahLst/>
            <a:cxnLst/>
            <a:rect l="l" t="t" r="r" b="b"/>
            <a:pathLst>
              <a:path w="425202" h="531614">
                <a:moveTo>
                  <a:pt x="0" y="0"/>
                </a:moveTo>
                <a:lnTo>
                  <a:pt x="425203" y="0"/>
                </a:lnTo>
                <a:lnTo>
                  <a:pt x="425203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3" r="-23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1" name="Group 31"/>
          <p:cNvGrpSpPr/>
          <p:nvPr/>
        </p:nvGrpSpPr>
        <p:grpSpPr>
          <a:xfrm>
            <a:off x="1913632" y="7951886"/>
            <a:ext cx="3788420" cy="442912"/>
            <a:chOff x="0" y="0"/>
            <a:chExt cx="5051227" cy="5905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051227" cy="590550"/>
            </a:xfrm>
            <a:custGeom>
              <a:avLst/>
              <a:gdLst/>
              <a:ahLst/>
              <a:cxnLst/>
              <a:rect l="l" t="t" r="r" b="b"/>
              <a:pathLst>
                <a:path w="5051227" h="590550">
                  <a:moveTo>
                    <a:pt x="0" y="0"/>
                  </a:moveTo>
                  <a:lnTo>
                    <a:pt x="5051227" y="0"/>
                  </a:lnTo>
                  <a:lnTo>
                    <a:pt x="5051227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5051227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Validation Comparison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913632" y="8564910"/>
            <a:ext cx="7053262" cy="907256"/>
            <a:chOff x="0" y="0"/>
            <a:chExt cx="9404350" cy="120967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404350" cy="1209675"/>
            </a:xfrm>
            <a:custGeom>
              <a:avLst/>
              <a:gdLst/>
              <a:ahLst/>
              <a:cxnLst/>
              <a:rect l="l" t="t" r="r" b="b"/>
              <a:pathLst>
                <a:path w="9404350" h="1209675">
                  <a:moveTo>
                    <a:pt x="0" y="0"/>
                  </a:moveTo>
                  <a:lnTo>
                    <a:pt x="9404350" y="0"/>
                  </a:lnTo>
                  <a:lnTo>
                    <a:pt x="940435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85725"/>
              <a:ext cx="9404350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Compare training vs. validation performance to detect overfitting or underfitting issues.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321254" y="7854554"/>
            <a:ext cx="637877" cy="637878"/>
            <a:chOff x="0" y="0"/>
            <a:chExt cx="850503" cy="85050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DEBE3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9" name="Freeform 39" descr="preencoded.png"/>
          <p:cNvSpPr/>
          <p:nvPr/>
        </p:nvSpPr>
        <p:spPr>
          <a:xfrm>
            <a:off x="9427592" y="7907685"/>
            <a:ext cx="425203" cy="531614"/>
          </a:xfrm>
          <a:custGeom>
            <a:avLst/>
            <a:gdLst/>
            <a:ahLst/>
            <a:cxnLst/>
            <a:rect l="l" t="t" r="r" b="b"/>
            <a:pathLst>
              <a:path w="425203" h="531614">
                <a:moveTo>
                  <a:pt x="0" y="0"/>
                </a:moveTo>
                <a:lnTo>
                  <a:pt x="425203" y="0"/>
                </a:lnTo>
                <a:lnTo>
                  <a:pt x="425203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3" r="-23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0" name="Group 40"/>
          <p:cNvGrpSpPr/>
          <p:nvPr/>
        </p:nvGrpSpPr>
        <p:grpSpPr>
          <a:xfrm>
            <a:off x="10242649" y="7951886"/>
            <a:ext cx="3544044" cy="442912"/>
            <a:chOff x="0" y="0"/>
            <a:chExt cx="4725392" cy="59055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Visual Reports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242649" y="8564910"/>
            <a:ext cx="7053262" cy="907256"/>
            <a:chOff x="0" y="0"/>
            <a:chExt cx="9404350" cy="1209675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404350" cy="1209675"/>
            </a:xfrm>
            <a:custGeom>
              <a:avLst/>
              <a:gdLst/>
              <a:ahLst/>
              <a:cxnLst/>
              <a:rect l="l" t="t" r="r" b="b"/>
              <a:pathLst>
                <a:path w="9404350" h="1209675">
                  <a:moveTo>
                    <a:pt x="0" y="0"/>
                  </a:moveTo>
                  <a:lnTo>
                    <a:pt x="9404350" y="0"/>
                  </a:lnTo>
                  <a:lnTo>
                    <a:pt x="940435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85725"/>
              <a:ext cx="9404350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Create clear visualizations to communicate results effectively to stakeholders.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8F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11016663" y="-8062165"/>
            <a:ext cx="15573143" cy="14521956"/>
          </a:xfrm>
          <a:custGeom>
            <a:avLst/>
            <a:gdLst/>
            <a:ahLst/>
            <a:cxnLst/>
            <a:rect l="l" t="t" r="r" b="b"/>
            <a:pathLst>
              <a:path w="15573143" h="14521956">
                <a:moveTo>
                  <a:pt x="0" y="0"/>
                </a:moveTo>
                <a:lnTo>
                  <a:pt x="15573143" y="0"/>
                </a:lnTo>
                <a:lnTo>
                  <a:pt x="15573143" y="14521956"/>
                </a:lnTo>
                <a:lnTo>
                  <a:pt x="0" y="14521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492891" y="779816"/>
            <a:ext cx="8088796" cy="4080049"/>
          </a:xfrm>
          <a:custGeom>
            <a:avLst/>
            <a:gdLst/>
            <a:ahLst/>
            <a:cxnLst/>
            <a:rect l="l" t="t" r="r" b="b"/>
            <a:pathLst>
              <a:path w="8088796" h="4080049">
                <a:moveTo>
                  <a:pt x="0" y="0"/>
                </a:moveTo>
                <a:lnTo>
                  <a:pt x="8088796" y="0"/>
                </a:lnTo>
                <a:lnTo>
                  <a:pt x="8088796" y="4080049"/>
                </a:lnTo>
                <a:lnTo>
                  <a:pt x="0" y="40800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7894"/>
            </a:stretch>
          </a:blipFill>
          <a:ln w="571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9144000" y="4127399"/>
            <a:ext cx="8359841" cy="5893688"/>
          </a:xfrm>
          <a:custGeom>
            <a:avLst/>
            <a:gdLst/>
            <a:ahLst/>
            <a:cxnLst/>
            <a:rect l="l" t="t" r="r" b="b"/>
            <a:pathLst>
              <a:path w="8359841" h="5893688">
                <a:moveTo>
                  <a:pt x="0" y="0"/>
                </a:moveTo>
                <a:lnTo>
                  <a:pt x="8359841" y="0"/>
                </a:lnTo>
                <a:lnTo>
                  <a:pt x="8359841" y="5893688"/>
                </a:lnTo>
                <a:lnTo>
                  <a:pt x="0" y="58936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571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955C05-7A36-2160-90DF-79297132B6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346" y="5639681"/>
            <a:ext cx="5644356" cy="122294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8F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9472728" y="-9602088"/>
            <a:ext cx="15573143" cy="14521956"/>
          </a:xfrm>
          <a:custGeom>
            <a:avLst/>
            <a:gdLst/>
            <a:ahLst/>
            <a:cxnLst/>
            <a:rect l="l" t="t" r="r" b="b"/>
            <a:pathLst>
              <a:path w="15573143" h="14521956">
                <a:moveTo>
                  <a:pt x="0" y="0"/>
                </a:moveTo>
                <a:lnTo>
                  <a:pt x="15573144" y="0"/>
                </a:lnTo>
                <a:lnTo>
                  <a:pt x="15573144" y="14521956"/>
                </a:lnTo>
                <a:lnTo>
                  <a:pt x="0" y="14521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687110" y="2509832"/>
            <a:ext cx="16317427" cy="5248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0824" lvl="1" indent="-330412" algn="ctr">
              <a:lnSpc>
                <a:spcPts val="3825"/>
              </a:lnSpc>
              <a:buFont typeface="Arial"/>
              <a:buChar char="•"/>
            </a:pPr>
            <a:r>
              <a:rPr lang="en-US" sz="306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Strong Overall Performance:</a:t>
            </a:r>
            <a:r>
              <a:rPr lang="en-US" sz="30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The model achieves 92.4% test accuracy with balanced performance across both classes.</a:t>
            </a:r>
          </a:p>
          <a:p>
            <a:pPr algn="ctr">
              <a:lnSpc>
                <a:spcPts val="3076"/>
              </a:lnSpc>
              <a:spcBef>
                <a:spcPct val="0"/>
              </a:spcBef>
            </a:pPr>
            <a:endParaRPr lang="en-US" sz="306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60824" lvl="1" indent="-330412" algn="ctr">
              <a:lnSpc>
                <a:spcPts val="3825"/>
              </a:lnSpc>
              <a:buFont typeface="Arial"/>
              <a:buChar char="•"/>
            </a:pPr>
            <a:r>
              <a:rPr lang="en-US" sz="306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Confusion Matrix:</a:t>
            </a:r>
            <a:r>
              <a:rPr lang="en-US" sz="30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The model correctly classifies 7000 instances of class 0 and 2000 instances of class 1, with relatively low misclassification.</a:t>
            </a:r>
          </a:p>
          <a:p>
            <a:pPr algn="ctr">
              <a:lnSpc>
                <a:spcPts val="3825"/>
              </a:lnSpc>
              <a:spcBef>
                <a:spcPct val="0"/>
              </a:spcBef>
            </a:pPr>
            <a:endParaRPr lang="en-US" sz="306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60824" lvl="1" indent="-330412" algn="ctr">
              <a:lnSpc>
                <a:spcPts val="3825"/>
              </a:lnSpc>
              <a:buFont typeface="Arial"/>
              <a:buChar char="•"/>
            </a:pPr>
            <a:r>
              <a:rPr lang="en-US" sz="306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Learning Curve:</a:t>
            </a:r>
            <a:r>
              <a:rPr lang="en-US" sz="30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The training and validation accuracy graphs show healthy convergence around 92%, indicating proper model fitting without significant overfitting.</a:t>
            </a:r>
          </a:p>
          <a:p>
            <a:pPr algn="ctr">
              <a:lnSpc>
                <a:spcPts val="3825"/>
              </a:lnSpc>
            </a:pPr>
            <a:endParaRPr lang="en-US" sz="306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60824" lvl="1" indent="-330412" algn="ctr">
              <a:lnSpc>
                <a:spcPts val="3825"/>
              </a:lnSpc>
              <a:buFont typeface="Arial"/>
              <a:buChar char="•"/>
            </a:pPr>
            <a:r>
              <a:rPr lang="en-US" sz="306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Stable Convergence:</a:t>
            </a:r>
            <a:r>
              <a:rPr lang="en-US" sz="30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Model stabilizes after approximately 10 epochs, suggesting efficient learning with minimal additional benefit from extended training.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8F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11016663" y="-8062165"/>
            <a:ext cx="15573143" cy="14521956"/>
          </a:xfrm>
          <a:custGeom>
            <a:avLst/>
            <a:gdLst/>
            <a:ahLst/>
            <a:cxnLst/>
            <a:rect l="l" t="t" r="r" b="b"/>
            <a:pathLst>
              <a:path w="15573143" h="14521956">
                <a:moveTo>
                  <a:pt x="0" y="0"/>
                </a:moveTo>
                <a:lnTo>
                  <a:pt x="15573143" y="0"/>
                </a:lnTo>
                <a:lnTo>
                  <a:pt x="15573143" y="14521956"/>
                </a:lnTo>
                <a:lnTo>
                  <a:pt x="0" y="14521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625862" y="1662325"/>
            <a:ext cx="8190011" cy="1056289"/>
            <a:chOff x="0" y="0"/>
            <a:chExt cx="10920015" cy="14083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920015" cy="1408385"/>
            </a:xfrm>
            <a:custGeom>
              <a:avLst/>
              <a:gdLst/>
              <a:ahLst/>
              <a:cxnLst/>
              <a:rect l="l" t="t" r="r" b="b"/>
              <a:pathLst>
                <a:path w="10920015" h="1408385">
                  <a:moveTo>
                    <a:pt x="0" y="0"/>
                  </a:moveTo>
                  <a:lnTo>
                    <a:pt x="10920015" y="0"/>
                  </a:lnTo>
                  <a:lnTo>
                    <a:pt x="10920015" y="1408385"/>
                  </a:lnTo>
                  <a:lnTo>
                    <a:pt x="0" y="1408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0920015" cy="142743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LIME visual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2162723" y="3692503"/>
            <a:ext cx="12954797" cy="4582759"/>
          </a:xfrm>
          <a:custGeom>
            <a:avLst/>
            <a:gdLst/>
            <a:ahLst/>
            <a:cxnLst/>
            <a:rect l="l" t="t" r="r" b="b"/>
            <a:pathLst>
              <a:path w="12954797" h="4582759">
                <a:moveTo>
                  <a:pt x="0" y="0"/>
                </a:moveTo>
                <a:lnTo>
                  <a:pt x="12954797" y="0"/>
                </a:lnTo>
                <a:lnTo>
                  <a:pt x="12954797" y="4582760"/>
                </a:lnTo>
                <a:lnTo>
                  <a:pt x="0" y="4582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8F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9733633" y="-9974808"/>
            <a:ext cx="15573143" cy="14521956"/>
          </a:xfrm>
          <a:custGeom>
            <a:avLst/>
            <a:gdLst/>
            <a:ahLst/>
            <a:cxnLst/>
            <a:rect l="l" t="t" r="r" b="b"/>
            <a:pathLst>
              <a:path w="15573143" h="14521956">
                <a:moveTo>
                  <a:pt x="0" y="0"/>
                </a:moveTo>
                <a:lnTo>
                  <a:pt x="15573143" y="0"/>
                </a:lnTo>
                <a:lnTo>
                  <a:pt x="15573143" y="14521956"/>
                </a:lnTo>
                <a:lnTo>
                  <a:pt x="0" y="14521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28700" y="2008206"/>
            <a:ext cx="16230600" cy="651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3726" lvl="1" indent="-296863" algn="ctr">
              <a:lnSpc>
                <a:spcPts val="3437"/>
              </a:lnSpc>
              <a:buFont typeface="Arial"/>
              <a:buChar char="•"/>
            </a:pPr>
            <a:r>
              <a:rPr lang="en-US" sz="275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Prediction Breakdown: </a:t>
            </a:r>
            <a:r>
              <a:rPr lang="en-US" sz="275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model predicts 84% probability of loan approval for this specific application, with the visualization showing which features push toward approval (orange) versus rejection (blue).</a:t>
            </a:r>
          </a:p>
          <a:p>
            <a:pPr algn="ctr">
              <a:lnSpc>
                <a:spcPts val="2312"/>
              </a:lnSpc>
            </a:pPr>
            <a:endParaRPr lang="en-US" sz="275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93726" lvl="1" indent="-296863" algn="ctr">
              <a:lnSpc>
                <a:spcPts val="3437"/>
              </a:lnSpc>
              <a:buFont typeface="Arial"/>
              <a:buChar char="•"/>
            </a:pPr>
            <a:r>
              <a:rPr lang="en-US" sz="275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Feature Impact:</a:t>
            </a:r>
            <a:r>
              <a:rPr lang="en-US" sz="275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Key features influencing approval include no previous low loan amount, and low loan-to-income ratio. </a:t>
            </a:r>
          </a:p>
          <a:p>
            <a:pPr algn="ctr">
              <a:lnSpc>
                <a:spcPts val="2437"/>
              </a:lnSpc>
            </a:pPr>
            <a:endParaRPr lang="en-US" sz="275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93726" lvl="1" indent="-296863" algn="ctr">
              <a:lnSpc>
                <a:spcPts val="3437"/>
              </a:lnSpc>
              <a:buFont typeface="Arial"/>
              <a:buChar char="•"/>
            </a:pPr>
            <a:r>
              <a:rPr lang="en-US" sz="275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Counterintuitive Relationships:</a:t>
            </a:r>
            <a:r>
              <a:rPr lang="en-US" sz="275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Previous loan default had a positive impact on approval, which is counterintuitive and may suggest influence from stronger compensating factors.</a:t>
            </a:r>
          </a:p>
          <a:p>
            <a:pPr algn="ctr">
              <a:lnSpc>
                <a:spcPts val="2687"/>
              </a:lnSpc>
            </a:pPr>
            <a:endParaRPr lang="en-US" sz="275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93726" lvl="1" indent="-296863" algn="ctr">
              <a:lnSpc>
                <a:spcPts val="3437"/>
              </a:lnSpc>
              <a:buFont typeface="Arial"/>
              <a:buChar char="•"/>
            </a:pPr>
            <a:r>
              <a:rPr lang="en-US" sz="275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Loan Intent and Education Level:</a:t>
            </a:r>
            <a:r>
              <a:rPr lang="en-US" sz="275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The applicant's loan purpose (Venture, Personal, Education) and Doctorate-level education had small but positive contributions, possibly due to assumptions of higher repayment potential or purpose alignment.</a:t>
            </a:r>
          </a:p>
          <a:p>
            <a:pPr algn="ctr">
              <a:lnSpc>
                <a:spcPts val="2687"/>
              </a:lnSpc>
            </a:pPr>
            <a:endParaRPr lang="en-US" sz="275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93726" lvl="1" indent="-296863" algn="ctr">
              <a:lnSpc>
                <a:spcPts val="3437"/>
              </a:lnSpc>
              <a:buFont typeface="Arial"/>
              <a:buChar char="•"/>
            </a:pPr>
            <a:r>
              <a:rPr lang="en-US" sz="275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Local Explanation</a:t>
            </a:r>
            <a:r>
              <a:rPr lang="en-US" sz="275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This LIME output provides a local interpretation for a single instance rather than global model behavior, showing how the model "reasons" for this particular application.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2D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8F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937021"/>
            <a:ext cx="8886676" cy="885974"/>
            <a:chOff x="0" y="0"/>
            <a:chExt cx="11848902" cy="1181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48902" cy="1181298"/>
            </a:xfrm>
            <a:custGeom>
              <a:avLst/>
              <a:gdLst/>
              <a:ahLst/>
              <a:cxnLst/>
              <a:rect l="l" t="t" r="r" b="b"/>
              <a:pathLst>
                <a:path w="11848902" h="1181298">
                  <a:moveTo>
                    <a:pt x="0" y="0"/>
                  </a:moveTo>
                  <a:lnTo>
                    <a:pt x="11848902" y="0"/>
                  </a:lnTo>
                  <a:lnTo>
                    <a:pt x="11848902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1848902" cy="12003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Best Practices for Success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8" y="2390031"/>
            <a:ext cx="2037904" cy="1633686"/>
            <a:chOff x="0" y="0"/>
            <a:chExt cx="2717205" cy="21782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17165" cy="2178177"/>
            </a:xfrm>
            <a:custGeom>
              <a:avLst/>
              <a:gdLst/>
              <a:ahLst/>
              <a:cxnLst/>
              <a:rect l="l" t="t" r="r" b="b"/>
              <a:pathLst>
                <a:path w="2717165" h="2178177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2660523" y="0"/>
                  </a:lnTo>
                  <a:cubicBezTo>
                    <a:pt x="2691892" y="0"/>
                    <a:pt x="2717165" y="25400"/>
                    <a:pt x="2717165" y="56642"/>
                  </a:cubicBezTo>
                  <a:lnTo>
                    <a:pt x="2717165" y="2121535"/>
                  </a:lnTo>
                  <a:cubicBezTo>
                    <a:pt x="2717165" y="2152904"/>
                    <a:pt x="2691765" y="2178177"/>
                    <a:pt x="2660523" y="2178177"/>
                  </a:cubicBezTo>
                  <a:lnTo>
                    <a:pt x="56642" y="2178177"/>
                  </a:lnTo>
                  <a:cubicBezTo>
                    <a:pt x="25273" y="2178177"/>
                    <a:pt x="0" y="2152777"/>
                    <a:pt x="0" y="2121535"/>
                  </a:cubicBezTo>
                  <a:close/>
                </a:path>
              </a:pathLst>
            </a:custGeom>
            <a:solidFill>
              <a:srgbClr val="EDEBE3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 descr="preencoded.png"/>
          <p:cNvSpPr/>
          <p:nvPr/>
        </p:nvSpPr>
        <p:spPr>
          <a:xfrm>
            <a:off x="1811834" y="2957661"/>
            <a:ext cx="398710" cy="498276"/>
          </a:xfrm>
          <a:custGeom>
            <a:avLst/>
            <a:gdLst/>
            <a:ahLst/>
            <a:cxnLst/>
            <a:rect l="l" t="t" r="r" b="b"/>
            <a:pathLst>
              <a:path w="398710" h="498276">
                <a:moveTo>
                  <a:pt x="0" y="0"/>
                </a:moveTo>
                <a:lnTo>
                  <a:pt x="398710" y="0"/>
                </a:lnTo>
                <a:lnTo>
                  <a:pt x="398710" y="498277"/>
                </a:lnTo>
                <a:lnTo>
                  <a:pt x="0" y="4982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9" r="-46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/>
          <p:cNvGrpSpPr/>
          <p:nvPr/>
        </p:nvGrpSpPr>
        <p:grpSpPr>
          <a:xfrm>
            <a:off x="3313659" y="2673549"/>
            <a:ext cx="3618310" cy="442912"/>
            <a:chOff x="0" y="0"/>
            <a:chExt cx="4824413" cy="5905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24413" cy="590550"/>
            </a:xfrm>
            <a:custGeom>
              <a:avLst/>
              <a:gdLst/>
              <a:ahLst/>
              <a:cxnLst/>
              <a:rect l="l" t="t" r="r" b="b"/>
              <a:pathLst>
                <a:path w="4824413" h="590550">
                  <a:moveTo>
                    <a:pt x="0" y="0"/>
                  </a:moveTo>
                  <a:lnTo>
                    <a:pt x="4824413" y="0"/>
                  </a:lnTo>
                  <a:lnTo>
                    <a:pt x="4824413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4824413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Document Everything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313659" y="3286571"/>
            <a:ext cx="6005810" cy="453629"/>
            <a:chOff x="0" y="0"/>
            <a:chExt cx="8007747" cy="60483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007747" cy="604838"/>
            </a:xfrm>
            <a:custGeom>
              <a:avLst/>
              <a:gdLst/>
              <a:ahLst/>
              <a:cxnLst/>
              <a:rect l="l" t="t" r="r" b="b"/>
              <a:pathLst>
                <a:path w="8007747" h="604838">
                  <a:moveTo>
                    <a:pt x="0" y="0"/>
                  </a:moveTo>
                  <a:lnTo>
                    <a:pt x="8007747" y="0"/>
                  </a:lnTo>
                  <a:lnTo>
                    <a:pt x="800774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8007747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Record all decisions, parameters, and results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171825" y="4004667"/>
            <a:ext cx="13982254" cy="19050"/>
            <a:chOff x="0" y="0"/>
            <a:chExt cx="18643005" cy="25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8642964" cy="25400"/>
            </a:xfrm>
            <a:custGeom>
              <a:avLst/>
              <a:gdLst/>
              <a:ahLst/>
              <a:cxnLst/>
              <a:rect l="l" t="t" r="r" b="b"/>
              <a:pathLst>
                <a:path w="18642964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8630264" y="0"/>
                  </a:lnTo>
                  <a:cubicBezTo>
                    <a:pt x="18637250" y="0"/>
                    <a:pt x="18642964" y="5715"/>
                    <a:pt x="18642964" y="12700"/>
                  </a:cubicBezTo>
                  <a:cubicBezTo>
                    <a:pt x="18642964" y="19685"/>
                    <a:pt x="18637250" y="25400"/>
                    <a:pt x="18630264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3D1C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92238" y="4165401"/>
            <a:ext cx="4075808" cy="1633686"/>
            <a:chOff x="0" y="0"/>
            <a:chExt cx="5434410" cy="217824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434330" cy="2178177"/>
            </a:xfrm>
            <a:custGeom>
              <a:avLst/>
              <a:gdLst/>
              <a:ahLst/>
              <a:cxnLst/>
              <a:rect l="l" t="t" r="r" b="b"/>
              <a:pathLst>
                <a:path w="5434330" h="2178177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5377688" y="0"/>
                  </a:lnTo>
                  <a:cubicBezTo>
                    <a:pt x="5409057" y="0"/>
                    <a:pt x="5434330" y="25400"/>
                    <a:pt x="5434330" y="56642"/>
                  </a:cubicBezTo>
                  <a:lnTo>
                    <a:pt x="5434330" y="2121535"/>
                  </a:lnTo>
                  <a:cubicBezTo>
                    <a:pt x="5434330" y="2152904"/>
                    <a:pt x="5408930" y="2178177"/>
                    <a:pt x="5377688" y="2178177"/>
                  </a:cubicBezTo>
                  <a:lnTo>
                    <a:pt x="56642" y="2178177"/>
                  </a:lnTo>
                  <a:cubicBezTo>
                    <a:pt x="25273" y="2178177"/>
                    <a:pt x="0" y="2152777"/>
                    <a:pt x="0" y="2121535"/>
                  </a:cubicBezTo>
                  <a:close/>
                </a:path>
              </a:pathLst>
            </a:custGeom>
            <a:solidFill>
              <a:srgbClr val="EDEBE3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Freeform 22" descr="preencoded.png"/>
          <p:cNvSpPr/>
          <p:nvPr/>
        </p:nvSpPr>
        <p:spPr>
          <a:xfrm>
            <a:off x="2830711" y="4733032"/>
            <a:ext cx="398710" cy="498276"/>
          </a:xfrm>
          <a:custGeom>
            <a:avLst/>
            <a:gdLst/>
            <a:ahLst/>
            <a:cxnLst/>
            <a:rect l="l" t="t" r="r" b="b"/>
            <a:pathLst>
              <a:path w="398710" h="498276">
                <a:moveTo>
                  <a:pt x="0" y="0"/>
                </a:moveTo>
                <a:lnTo>
                  <a:pt x="398710" y="0"/>
                </a:lnTo>
                <a:lnTo>
                  <a:pt x="398710" y="498277"/>
                </a:lnTo>
                <a:lnTo>
                  <a:pt x="0" y="4982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9" r="-46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3" name="Group 23"/>
          <p:cNvGrpSpPr/>
          <p:nvPr/>
        </p:nvGrpSpPr>
        <p:grpSpPr>
          <a:xfrm>
            <a:off x="5351561" y="4448919"/>
            <a:ext cx="3844975" cy="442912"/>
            <a:chOff x="0" y="0"/>
            <a:chExt cx="5126633" cy="5905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126633" cy="590550"/>
            </a:xfrm>
            <a:custGeom>
              <a:avLst/>
              <a:gdLst/>
              <a:ahLst/>
              <a:cxnLst/>
              <a:rect l="l" t="t" r="r" b="b"/>
              <a:pathLst>
                <a:path w="5126633" h="590550">
                  <a:moveTo>
                    <a:pt x="0" y="0"/>
                  </a:moveTo>
                  <a:lnTo>
                    <a:pt x="5126633" y="0"/>
                  </a:lnTo>
                  <a:lnTo>
                    <a:pt x="5126633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5126633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Tune Hyperparameters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51561" y="5061942"/>
            <a:ext cx="5356472" cy="453629"/>
            <a:chOff x="0" y="0"/>
            <a:chExt cx="7141963" cy="60483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41963" cy="604838"/>
            </a:xfrm>
            <a:custGeom>
              <a:avLst/>
              <a:gdLst/>
              <a:ahLst/>
              <a:cxnLst/>
              <a:rect l="l" t="t" r="r" b="b"/>
              <a:pathLst>
                <a:path w="7141963" h="604838">
                  <a:moveTo>
                    <a:pt x="0" y="0"/>
                  </a:moveTo>
                  <a:lnTo>
                    <a:pt x="7141963" y="0"/>
                  </a:lnTo>
                  <a:lnTo>
                    <a:pt x="7141963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85725"/>
              <a:ext cx="7141963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Systematically explore parameter space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09729" y="5780037"/>
            <a:ext cx="11944350" cy="19050"/>
            <a:chOff x="0" y="0"/>
            <a:chExt cx="15925800" cy="25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925800" cy="25400"/>
            </a:xfrm>
            <a:custGeom>
              <a:avLst/>
              <a:gdLst/>
              <a:ahLst/>
              <a:cxnLst/>
              <a:rect l="l" t="t" r="r" b="b"/>
              <a:pathLst>
                <a:path w="15925800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5913100" y="0"/>
                  </a:lnTo>
                  <a:cubicBezTo>
                    <a:pt x="15920086" y="0"/>
                    <a:pt x="15925800" y="5715"/>
                    <a:pt x="15925800" y="12700"/>
                  </a:cubicBezTo>
                  <a:cubicBezTo>
                    <a:pt x="15925800" y="19685"/>
                    <a:pt x="15920086" y="25400"/>
                    <a:pt x="1591310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3D1C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92238" y="5940772"/>
            <a:ext cx="6113710" cy="1633686"/>
            <a:chOff x="0" y="0"/>
            <a:chExt cx="8151613" cy="217824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51495" cy="2178177"/>
            </a:xfrm>
            <a:custGeom>
              <a:avLst/>
              <a:gdLst/>
              <a:ahLst/>
              <a:cxnLst/>
              <a:rect l="l" t="t" r="r" b="b"/>
              <a:pathLst>
                <a:path w="8151495" h="2178177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8094853" y="0"/>
                  </a:lnTo>
                  <a:cubicBezTo>
                    <a:pt x="8126222" y="0"/>
                    <a:pt x="8151495" y="25400"/>
                    <a:pt x="8151495" y="56642"/>
                  </a:cubicBezTo>
                  <a:lnTo>
                    <a:pt x="8151495" y="2121535"/>
                  </a:lnTo>
                  <a:cubicBezTo>
                    <a:pt x="8151495" y="2152904"/>
                    <a:pt x="8126095" y="2178177"/>
                    <a:pt x="8094853" y="2178177"/>
                  </a:cubicBezTo>
                  <a:lnTo>
                    <a:pt x="56642" y="2178177"/>
                  </a:lnTo>
                  <a:cubicBezTo>
                    <a:pt x="25273" y="2178177"/>
                    <a:pt x="0" y="2152777"/>
                    <a:pt x="0" y="2121535"/>
                  </a:cubicBezTo>
                  <a:close/>
                </a:path>
              </a:pathLst>
            </a:custGeom>
            <a:solidFill>
              <a:srgbClr val="EDEBE3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3" name="Freeform 33" descr="preencoded.png"/>
          <p:cNvSpPr/>
          <p:nvPr/>
        </p:nvSpPr>
        <p:spPr>
          <a:xfrm>
            <a:off x="3849738" y="6508402"/>
            <a:ext cx="398710" cy="498276"/>
          </a:xfrm>
          <a:custGeom>
            <a:avLst/>
            <a:gdLst/>
            <a:ahLst/>
            <a:cxnLst/>
            <a:rect l="l" t="t" r="r" b="b"/>
            <a:pathLst>
              <a:path w="398710" h="498276">
                <a:moveTo>
                  <a:pt x="0" y="0"/>
                </a:moveTo>
                <a:lnTo>
                  <a:pt x="398710" y="0"/>
                </a:lnTo>
                <a:lnTo>
                  <a:pt x="398710" y="498277"/>
                </a:lnTo>
                <a:lnTo>
                  <a:pt x="0" y="4982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9" r="-46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4" name="Group 34"/>
          <p:cNvGrpSpPr/>
          <p:nvPr/>
        </p:nvGrpSpPr>
        <p:grpSpPr>
          <a:xfrm>
            <a:off x="7389465" y="6224290"/>
            <a:ext cx="3544044" cy="442912"/>
            <a:chOff x="0" y="0"/>
            <a:chExt cx="4725392" cy="59055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Validate Thoroughly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389465" y="6837312"/>
            <a:ext cx="5592366" cy="453629"/>
            <a:chOff x="0" y="0"/>
            <a:chExt cx="7456488" cy="60483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456488" cy="604838"/>
            </a:xfrm>
            <a:custGeom>
              <a:avLst/>
              <a:gdLst/>
              <a:ahLst/>
              <a:cxnLst/>
              <a:rect l="l" t="t" r="r" b="b"/>
              <a:pathLst>
                <a:path w="7456488" h="604838">
                  <a:moveTo>
                    <a:pt x="0" y="0"/>
                  </a:moveTo>
                  <a:lnTo>
                    <a:pt x="7456488" y="0"/>
                  </a:lnTo>
                  <a:lnTo>
                    <a:pt x="745648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85725"/>
              <a:ext cx="7456488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Use cross-validation for robust evaluation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247632" y="7555409"/>
            <a:ext cx="9906446" cy="19050"/>
            <a:chOff x="0" y="0"/>
            <a:chExt cx="13208595" cy="254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208636" cy="25400"/>
            </a:xfrm>
            <a:custGeom>
              <a:avLst/>
              <a:gdLst/>
              <a:ahLst/>
              <a:cxnLst/>
              <a:rect l="l" t="t" r="r" b="b"/>
              <a:pathLst>
                <a:path w="13208636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3195936" y="0"/>
                  </a:lnTo>
                  <a:cubicBezTo>
                    <a:pt x="13202921" y="0"/>
                    <a:pt x="13208636" y="5715"/>
                    <a:pt x="13208636" y="12700"/>
                  </a:cubicBezTo>
                  <a:cubicBezTo>
                    <a:pt x="13208636" y="19685"/>
                    <a:pt x="13202921" y="25400"/>
                    <a:pt x="1319593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3D1C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92238" y="7716142"/>
            <a:ext cx="8151762" cy="1633686"/>
            <a:chOff x="0" y="0"/>
            <a:chExt cx="10869017" cy="217824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868914" cy="2178177"/>
            </a:xfrm>
            <a:custGeom>
              <a:avLst/>
              <a:gdLst/>
              <a:ahLst/>
              <a:cxnLst/>
              <a:rect l="l" t="t" r="r" b="b"/>
              <a:pathLst>
                <a:path w="10868914" h="2178177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812273" y="0"/>
                  </a:lnTo>
                  <a:cubicBezTo>
                    <a:pt x="10843641" y="0"/>
                    <a:pt x="10868914" y="25400"/>
                    <a:pt x="10868914" y="56642"/>
                  </a:cubicBezTo>
                  <a:lnTo>
                    <a:pt x="10868914" y="2121535"/>
                  </a:lnTo>
                  <a:cubicBezTo>
                    <a:pt x="10868914" y="2152904"/>
                    <a:pt x="10843514" y="2178177"/>
                    <a:pt x="10812273" y="2178177"/>
                  </a:cubicBezTo>
                  <a:lnTo>
                    <a:pt x="56642" y="2178177"/>
                  </a:lnTo>
                  <a:cubicBezTo>
                    <a:pt x="25273" y="2178177"/>
                    <a:pt x="0" y="2152777"/>
                    <a:pt x="0" y="2121535"/>
                  </a:cubicBezTo>
                  <a:close/>
                </a:path>
              </a:pathLst>
            </a:custGeom>
            <a:solidFill>
              <a:srgbClr val="EDEBE3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4" name="Freeform 44" descr="preencoded.png"/>
          <p:cNvSpPr/>
          <p:nvPr/>
        </p:nvSpPr>
        <p:spPr>
          <a:xfrm>
            <a:off x="4868764" y="8283774"/>
            <a:ext cx="398710" cy="498276"/>
          </a:xfrm>
          <a:custGeom>
            <a:avLst/>
            <a:gdLst/>
            <a:ahLst/>
            <a:cxnLst/>
            <a:rect l="l" t="t" r="r" b="b"/>
            <a:pathLst>
              <a:path w="398710" h="498276">
                <a:moveTo>
                  <a:pt x="0" y="0"/>
                </a:moveTo>
                <a:lnTo>
                  <a:pt x="398710" y="0"/>
                </a:lnTo>
                <a:lnTo>
                  <a:pt x="398710" y="498276"/>
                </a:lnTo>
                <a:lnTo>
                  <a:pt x="0" y="4982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9" r="-46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5" name="Group 45"/>
          <p:cNvGrpSpPr/>
          <p:nvPr/>
        </p:nvGrpSpPr>
        <p:grpSpPr>
          <a:xfrm>
            <a:off x="9427518" y="7999660"/>
            <a:ext cx="3544044" cy="442912"/>
            <a:chOff x="0" y="0"/>
            <a:chExt cx="4725392" cy="59055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Backup Regularly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427518" y="8612684"/>
            <a:ext cx="5758606" cy="453629"/>
            <a:chOff x="0" y="0"/>
            <a:chExt cx="7678142" cy="60483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678141" cy="604838"/>
            </a:xfrm>
            <a:custGeom>
              <a:avLst/>
              <a:gdLst/>
              <a:ahLst/>
              <a:cxnLst/>
              <a:rect l="l" t="t" r="r" b="b"/>
              <a:pathLst>
                <a:path w="7678141" h="604838">
                  <a:moveTo>
                    <a:pt x="0" y="0"/>
                  </a:moveTo>
                  <a:lnTo>
                    <a:pt x="7678141" y="0"/>
                  </a:lnTo>
                  <a:lnTo>
                    <a:pt x="7678141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85725"/>
              <a:ext cx="7678142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161613"/>
                  </a:solidFill>
                  <a:latin typeface="Inter"/>
                  <a:ea typeface="Inter"/>
                  <a:cs typeface="Inter"/>
                  <a:sym typeface="Inter"/>
                </a:rPr>
                <a:t>Maintain versioned code and data backups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2D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8F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1282452"/>
            <a:ext cx="8997255" cy="885974"/>
            <a:chOff x="0" y="0"/>
            <a:chExt cx="11996340" cy="1181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996340" cy="1181298"/>
            </a:xfrm>
            <a:custGeom>
              <a:avLst/>
              <a:gdLst/>
              <a:ahLst/>
              <a:cxnLst/>
              <a:rect l="l" t="t" r="r" b="b"/>
              <a:pathLst>
                <a:path w="11996340" h="1181298">
                  <a:moveTo>
                    <a:pt x="0" y="0"/>
                  </a:moveTo>
                  <a:lnTo>
                    <a:pt x="11996340" y="0"/>
                  </a:lnTo>
                  <a:lnTo>
                    <a:pt x="11996340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1996340" cy="12003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Conclusion and Next Steps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3722935" y="2735461"/>
            <a:ext cx="2690069" cy="1633686"/>
          </a:xfrm>
          <a:custGeom>
            <a:avLst/>
            <a:gdLst/>
            <a:ahLst/>
            <a:cxnLst/>
            <a:rect l="l" t="t" r="r" b="b"/>
            <a:pathLst>
              <a:path w="2690069" h="1633686">
                <a:moveTo>
                  <a:pt x="0" y="0"/>
                </a:moveTo>
                <a:lnTo>
                  <a:pt x="2690069" y="0"/>
                </a:lnTo>
                <a:lnTo>
                  <a:pt x="2690069" y="1633686"/>
                </a:lnTo>
                <a:lnTo>
                  <a:pt x="0" y="1633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6" b="-21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 descr="preencoded.png"/>
          <p:cNvSpPr/>
          <p:nvPr/>
        </p:nvSpPr>
        <p:spPr>
          <a:xfrm>
            <a:off x="4868615" y="3505497"/>
            <a:ext cx="398710" cy="498276"/>
          </a:xfrm>
          <a:custGeom>
            <a:avLst/>
            <a:gdLst/>
            <a:ahLst/>
            <a:cxnLst/>
            <a:rect l="l" t="t" r="r" b="b"/>
            <a:pathLst>
              <a:path w="398710" h="498276">
                <a:moveTo>
                  <a:pt x="0" y="0"/>
                </a:moveTo>
                <a:lnTo>
                  <a:pt x="398710" y="0"/>
                </a:lnTo>
                <a:lnTo>
                  <a:pt x="398710" y="498277"/>
                </a:lnTo>
                <a:lnTo>
                  <a:pt x="0" y="4982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9" r="-46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6696521" y="3018979"/>
            <a:ext cx="3589585" cy="442912"/>
            <a:chOff x="0" y="0"/>
            <a:chExt cx="4786113" cy="5905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786113" cy="590550"/>
            </a:xfrm>
            <a:custGeom>
              <a:avLst/>
              <a:gdLst/>
              <a:ahLst/>
              <a:cxnLst/>
              <a:rect l="l" t="t" r="r" b="b"/>
              <a:pathLst>
                <a:path w="4786113" h="590550">
                  <a:moveTo>
                    <a:pt x="0" y="0"/>
                  </a:moveTo>
                  <a:lnTo>
                    <a:pt x="4786113" y="0"/>
                  </a:lnTo>
                  <a:lnTo>
                    <a:pt x="4786113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4786113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Future Improvements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83846" y="4385519"/>
            <a:ext cx="10741075" cy="19050"/>
            <a:chOff x="0" y="0"/>
            <a:chExt cx="14321433" cy="25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321410" cy="25400"/>
            </a:xfrm>
            <a:custGeom>
              <a:avLst/>
              <a:gdLst/>
              <a:ahLst/>
              <a:cxnLst/>
              <a:rect l="l" t="t" r="r" b="b"/>
              <a:pathLst>
                <a:path w="14321410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4308710" y="0"/>
                  </a:lnTo>
                  <a:cubicBezTo>
                    <a:pt x="14315695" y="0"/>
                    <a:pt x="14321410" y="5715"/>
                    <a:pt x="14321410" y="12700"/>
                  </a:cubicBezTo>
                  <a:cubicBezTo>
                    <a:pt x="14321410" y="19685"/>
                    <a:pt x="14315695" y="25400"/>
                    <a:pt x="1430871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3D1C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2377976" y="4439990"/>
            <a:ext cx="5380136" cy="1633686"/>
          </a:xfrm>
          <a:custGeom>
            <a:avLst/>
            <a:gdLst/>
            <a:ahLst/>
            <a:cxnLst/>
            <a:rect l="l" t="t" r="r" b="b"/>
            <a:pathLst>
              <a:path w="5380136" h="1633686">
                <a:moveTo>
                  <a:pt x="0" y="0"/>
                </a:moveTo>
                <a:lnTo>
                  <a:pt x="5380136" y="0"/>
                </a:lnTo>
                <a:lnTo>
                  <a:pt x="5380136" y="1633686"/>
                </a:lnTo>
                <a:lnTo>
                  <a:pt x="0" y="163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27" b="-12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 descr="preencoded.png"/>
          <p:cNvSpPr/>
          <p:nvPr/>
        </p:nvSpPr>
        <p:spPr>
          <a:xfrm>
            <a:off x="4868615" y="5007620"/>
            <a:ext cx="398710" cy="498276"/>
          </a:xfrm>
          <a:custGeom>
            <a:avLst/>
            <a:gdLst/>
            <a:ahLst/>
            <a:cxnLst/>
            <a:rect l="l" t="t" r="r" b="b"/>
            <a:pathLst>
              <a:path w="398710" h="498276">
                <a:moveTo>
                  <a:pt x="0" y="0"/>
                </a:moveTo>
                <a:lnTo>
                  <a:pt x="398710" y="0"/>
                </a:lnTo>
                <a:lnTo>
                  <a:pt x="398710" y="498276"/>
                </a:lnTo>
                <a:lnTo>
                  <a:pt x="0" y="4982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9" r="-46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8" name="Group 18"/>
          <p:cNvGrpSpPr/>
          <p:nvPr/>
        </p:nvGrpSpPr>
        <p:grpSpPr>
          <a:xfrm>
            <a:off x="7614568" y="4586908"/>
            <a:ext cx="3544044" cy="442912"/>
            <a:chOff x="0" y="0"/>
            <a:chExt cx="4725392" cy="5905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Key Findings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828955" y="6090048"/>
            <a:ext cx="9395966" cy="19050"/>
            <a:chOff x="0" y="0"/>
            <a:chExt cx="12527955" cy="25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527915" cy="25400"/>
            </a:xfrm>
            <a:custGeom>
              <a:avLst/>
              <a:gdLst/>
              <a:ahLst/>
              <a:cxnLst/>
              <a:rect l="l" t="t" r="r" b="b"/>
              <a:pathLst>
                <a:path w="12527915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2515215" y="0"/>
                  </a:lnTo>
                  <a:cubicBezTo>
                    <a:pt x="12522200" y="0"/>
                    <a:pt x="12527915" y="5715"/>
                    <a:pt x="12527915" y="12700"/>
                  </a:cubicBezTo>
                  <a:cubicBezTo>
                    <a:pt x="12527915" y="19685"/>
                    <a:pt x="12522200" y="25400"/>
                    <a:pt x="12515215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3D1C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Freeform 23" descr="preencoded.png"/>
          <p:cNvSpPr/>
          <p:nvPr/>
        </p:nvSpPr>
        <p:spPr>
          <a:xfrm>
            <a:off x="1032868" y="6144518"/>
            <a:ext cx="8070205" cy="1633686"/>
          </a:xfrm>
          <a:custGeom>
            <a:avLst/>
            <a:gdLst/>
            <a:ahLst/>
            <a:cxnLst/>
            <a:rect l="l" t="t" r="r" b="b"/>
            <a:pathLst>
              <a:path w="8070205" h="1633686">
                <a:moveTo>
                  <a:pt x="0" y="0"/>
                </a:moveTo>
                <a:lnTo>
                  <a:pt x="8070204" y="0"/>
                </a:lnTo>
                <a:lnTo>
                  <a:pt x="8070204" y="1633686"/>
                </a:lnTo>
                <a:lnTo>
                  <a:pt x="0" y="16336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56" b="-15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Freeform 24" descr="preencoded.png"/>
          <p:cNvSpPr/>
          <p:nvPr/>
        </p:nvSpPr>
        <p:spPr>
          <a:xfrm>
            <a:off x="4868466" y="6712149"/>
            <a:ext cx="398710" cy="498276"/>
          </a:xfrm>
          <a:custGeom>
            <a:avLst/>
            <a:gdLst/>
            <a:ahLst/>
            <a:cxnLst/>
            <a:rect l="l" t="t" r="r" b="b"/>
            <a:pathLst>
              <a:path w="398710" h="498276">
                <a:moveTo>
                  <a:pt x="0" y="0"/>
                </a:moveTo>
                <a:lnTo>
                  <a:pt x="398710" y="0"/>
                </a:lnTo>
                <a:lnTo>
                  <a:pt x="398710" y="498276"/>
                </a:lnTo>
                <a:lnTo>
                  <a:pt x="0" y="4982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69" r="-46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5" name="Group 25"/>
          <p:cNvGrpSpPr/>
          <p:nvPr/>
        </p:nvGrpSpPr>
        <p:grpSpPr>
          <a:xfrm>
            <a:off x="9386590" y="6428035"/>
            <a:ext cx="3544044" cy="442912"/>
            <a:chOff x="0" y="0"/>
            <a:chExt cx="4725392" cy="5905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61613"/>
                  </a:solidFill>
                  <a:latin typeface="DM Sans"/>
                  <a:ea typeface="DM Sans"/>
                  <a:cs typeface="DM Sans"/>
                  <a:sym typeface="DM Sans"/>
                </a:rPr>
                <a:t>Completed Steps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6413004" y="3583086"/>
            <a:ext cx="10940310" cy="420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27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Apply ensemble methods to balance class performance differences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614568" y="5130515"/>
            <a:ext cx="9466809" cy="849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27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Investigate counterintuitive LIME findings, particularly loan default relationships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44000" y="7042397"/>
            <a:ext cx="8209314" cy="849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27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Implemented and trained a Keras-based ANN with ReLU activation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3764</TotalTime>
  <Words>565</Words>
  <Application>Microsoft Office PowerPoint</Application>
  <PresentationFormat>Custom</PresentationFormat>
  <Paragraphs>75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Aptos</vt:lpstr>
      <vt:lpstr>Inter</vt:lpstr>
      <vt:lpstr>DM Sans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 Project Roadmap</dc:title>
  <cp:lastModifiedBy>Alagoni, Abhigna</cp:lastModifiedBy>
  <cp:revision>4</cp:revision>
  <dcterms:created xsi:type="dcterms:W3CDTF">2006-08-16T00:00:00Z</dcterms:created>
  <dcterms:modified xsi:type="dcterms:W3CDTF">2025-05-08T15:50:36Z</dcterms:modified>
  <dc:identifier>DAGmnPSgezs</dc:identifier>
</cp:coreProperties>
</file>